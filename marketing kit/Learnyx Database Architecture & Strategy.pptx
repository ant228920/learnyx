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y="6858000" cx="12192000"/>
  <p:notesSz cx="6858000" cy="9144000"/>
  <p:embeddedFontLst>
    <p:embeddedFont>
      <p:font typeface="Merriweather"/>
      <p:regular r:id="rId19"/>
      <p:bold r:id="rId20"/>
      <p:italic r:id="rId21"/>
      <p:boldItalic r:id="rId22"/>
    </p:embeddedFont>
    <p:embeddedFont>
      <p:font typeface="DM Sans"/>
      <p:regular r:id="rId23"/>
      <p:bold r:id="rId24"/>
      <p:italic r:id="rId25"/>
      <p:boldItalic r:id="rId2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6B246C3A-CAC3-4DFE-86E6-5717E81ED3B4}">
  <a:tblStyle styleId="{6B246C3A-CAC3-4DFE-86E6-5717E81ED3B4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fill>
          <a:solidFill>
            <a:srgbClr val="CFD7E7"/>
          </a:solidFill>
        </a:fill>
      </a:tcStyle>
    </a:band1H>
    <a:band2H>
      <a:tcTxStyle/>
    </a:band2H>
    <a:band1V>
      <a:tcTxStyle/>
      <a:tcStyle>
        <a:fill>
          <a:solidFill>
            <a:srgbClr val="CFD7E7"/>
          </a:solidFill>
        </a:fill>
      </a:tcStyle>
    </a:band1V>
    <a:band2V>
      <a:tcTxStyle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Merriweather-bold.fntdata"/><Relationship Id="rId22" Type="http://schemas.openxmlformats.org/officeDocument/2006/relationships/font" Target="fonts/Merriweather-boldItalic.fntdata"/><Relationship Id="rId21" Type="http://schemas.openxmlformats.org/officeDocument/2006/relationships/font" Target="fonts/Merriweather-italic.fntdata"/><Relationship Id="rId24" Type="http://schemas.openxmlformats.org/officeDocument/2006/relationships/font" Target="fonts/DMSans-bold.fntdata"/><Relationship Id="rId23" Type="http://schemas.openxmlformats.org/officeDocument/2006/relationships/font" Target="fonts/DMSans-regular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font" Target="fonts/DMSans-boldItalic.fntdata"/><Relationship Id="rId25" Type="http://schemas.openxmlformats.org/officeDocument/2006/relationships/font" Target="fonts/DMSans-italic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font" Target="fonts/Merriweather-regular.fntdata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" name="Google Shape;161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" name="Google Shape;169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" name="Google Shape;180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" name="Google Shape;191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" name="Google Shape;203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" name="Google Shape;218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1" name="Google Shape;231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1.png"/><Relationship Id="rId6" Type="http://schemas.openxmlformats.org/officeDocument/2006/relationships/image" Target="../media/image4.png"/><Relationship Id="rId7" Type="http://schemas.openxmlformats.org/officeDocument/2006/relationships/image" Target="../media/image15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Relationship Id="rId4" Type="http://schemas.openxmlformats.org/officeDocument/2006/relationships/image" Target="../media/image6.png"/><Relationship Id="rId5" Type="http://schemas.openxmlformats.org/officeDocument/2006/relationships/image" Target="../media/image7.png"/><Relationship Id="rId6" Type="http://schemas.openxmlformats.org/officeDocument/2006/relationships/image" Target="../media/image5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Relationship Id="rId4" Type="http://schemas.openxmlformats.org/officeDocument/2006/relationships/image" Target="../media/image8.png"/><Relationship Id="rId5" Type="http://schemas.openxmlformats.org/officeDocument/2006/relationships/image" Target="../media/image18.png"/><Relationship Id="rId6" Type="http://schemas.openxmlformats.org/officeDocument/2006/relationships/image" Target="../media/image1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Relationship Id="rId4" Type="http://schemas.openxmlformats.org/officeDocument/2006/relationships/image" Target="../media/image16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png"/><Relationship Id="rId4" Type="http://schemas.openxmlformats.org/officeDocument/2006/relationships/image" Target="../media/image14.png"/><Relationship Id="rId5" Type="http://schemas.openxmlformats.org/officeDocument/2006/relationships/image" Target="../media/image17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.png"/><Relationship Id="rId4" Type="http://schemas.openxmlformats.org/officeDocument/2006/relationships/image" Target="../media/image11.png"/><Relationship Id="rId5" Type="http://schemas.openxmlformats.org/officeDocument/2006/relationships/image" Target="../media/image9.png"/><Relationship Id="rId6" Type="http://schemas.openxmlformats.org/officeDocument/2006/relationships/image" Target="../media/image12.png"/><Relationship Id="rId7" Type="http://schemas.openxmlformats.org/officeDocument/2006/relationships/image" Target="../media/image10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4" name="Google Shape;8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 txBox="1"/>
          <p:nvPr/>
        </p:nvSpPr>
        <p:spPr>
          <a:xfrm>
            <a:off x="2620565" y="1948904"/>
            <a:ext cx="6950868" cy="13409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800" u="none" cap="none" strike="noStrik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Learnyx: Екосистема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4800" u="none" cap="none" strike="noStrik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 майбутнього EdTech</a:t>
            </a:r>
            <a:endParaRPr/>
          </a:p>
        </p:txBody>
      </p:sp>
      <p:sp>
        <p:nvSpPr>
          <p:cNvPr id="86" name="Google Shape;86;p13"/>
          <p:cNvSpPr txBox="1"/>
          <p:nvPr/>
        </p:nvSpPr>
        <p:spPr>
          <a:xfrm>
            <a:off x="2286000" y="3480345"/>
            <a:ext cx="76200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Інноваційна B2B SaaS платформа для автоматизації онлайн-шкіл та професійного розвитку викладачів.</a:t>
            </a:r>
            <a:endParaRPr/>
          </a:p>
        </p:txBody>
      </p:sp>
      <p:sp>
        <p:nvSpPr>
          <p:cNvPr id="87" name="Google Shape;87;p13"/>
          <p:cNvSpPr txBox="1"/>
          <p:nvPr/>
        </p:nvSpPr>
        <p:spPr>
          <a:xfrm>
            <a:off x="4035176" y="4709070"/>
            <a:ext cx="4121646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ТЕХНІЧНИЙ ЗВІТ ARCHITECTURE &amp; STRATEGY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2" name="Google Shape;92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93" name="Google Shape;93;p14"/>
          <p:cNvSpPr/>
          <p:nvPr/>
        </p:nvSpPr>
        <p:spPr>
          <a:xfrm>
            <a:off x="5619750" y="2380357"/>
            <a:ext cx="952500" cy="57150"/>
          </a:xfrm>
          <a:prstGeom prst="rect">
            <a:avLst/>
          </a:prstGeom>
          <a:solidFill>
            <a:srgbClr val="11CAA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14"/>
          <p:cNvSpPr txBox="1"/>
          <p:nvPr/>
        </p:nvSpPr>
        <p:spPr>
          <a:xfrm>
            <a:off x="295275" y="2723257"/>
            <a:ext cx="11601450" cy="13409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800" u="none" cap="none" strike="noStrik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Бізнес-концепція та ринковий «біль»</a:t>
            </a:r>
            <a:endParaRPr/>
          </a:p>
        </p:txBody>
      </p:sp>
      <p:sp>
        <p:nvSpPr>
          <p:cNvPr id="95" name="Google Shape;95;p14"/>
          <p:cNvSpPr txBox="1"/>
          <p:nvPr/>
        </p:nvSpPr>
        <p:spPr>
          <a:xfrm>
            <a:off x="571500" y="4254698"/>
            <a:ext cx="11049000" cy="3656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64748B"/>
                </a:solidFill>
                <a:latin typeface="DM Sans"/>
                <a:ea typeface="DM Sans"/>
                <a:cs typeface="DM Sans"/>
                <a:sym typeface="DM Sans"/>
              </a:rPr>
              <a:t>Чому традиційні методи менеджменту освіти більше не працюють?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00" name="Google Shape;100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1" name="Google Shape;101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671762"/>
            <a:ext cx="5286375" cy="23431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2" name="Google Shape;102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34125" y="2671762"/>
            <a:ext cx="5286375" cy="2343150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15"/>
          <p:cNvSpPr txBox="1"/>
          <p:nvPr/>
        </p:nvSpPr>
        <p:spPr>
          <a:xfrm>
            <a:off x="762000" y="571500"/>
            <a:ext cx="11401425" cy="4476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50" u="none" cap="none" strike="noStrik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Проблема ринку та наше рішення</a:t>
            </a:r>
            <a:endParaRPr/>
          </a:p>
        </p:txBody>
      </p:sp>
      <p:sp>
        <p:nvSpPr>
          <p:cNvPr id="104" name="Google Shape;104;p15"/>
          <p:cNvSpPr/>
          <p:nvPr/>
        </p:nvSpPr>
        <p:spPr>
          <a:xfrm>
            <a:off x="571500" y="571500"/>
            <a:ext cx="47625" cy="447675"/>
          </a:xfrm>
          <a:prstGeom prst="rect">
            <a:avLst/>
          </a:prstGeom>
          <a:solidFill>
            <a:srgbClr val="11CAA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15"/>
          <p:cNvSpPr txBox="1"/>
          <p:nvPr/>
        </p:nvSpPr>
        <p:spPr>
          <a:xfrm>
            <a:off x="1028700" y="3052762"/>
            <a:ext cx="4670583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80975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991B1B"/>
                </a:solidFill>
                <a:latin typeface="Merriweather"/>
                <a:ea typeface="Merriweather"/>
                <a:cs typeface="Merriweather"/>
                <a:sym typeface="Merriweather"/>
              </a:rPr>
              <a:t>Хаос в управлінні</a:t>
            </a:r>
            <a:endParaRPr/>
          </a:p>
        </p:txBody>
      </p:sp>
      <p:sp>
        <p:nvSpPr>
          <p:cNvPr id="106" name="Google Shape;106;p15"/>
          <p:cNvSpPr txBox="1"/>
          <p:nvPr/>
        </p:nvSpPr>
        <p:spPr>
          <a:xfrm>
            <a:off x="1028700" y="3271837"/>
            <a:ext cx="4448175" cy="12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Маркетплейси забирають до 33% комісії. Ручний облік у Excel призводить до накладок (дабл-букінг), втрати балансів учнів та фінансової непрозорості.</a:t>
            </a:r>
            <a:endParaRPr/>
          </a:p>
        </p:txBody>
      </p:sp>
      <p:sp>
        <p:nvSpPr>
          <p:cNvPr id="107" name="Google Shape;107;p15"/>
          <p:cNvSpPr txBox="1"/>
          <p:nvPr/>
        </p:nvSpPr>
        <p:spPr>
          <a:xfrm>
            <a:off x="6791325" y="3052762"/>
            <a:ext cx="4670583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5240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166534"/>
                </a:solidFill>
                <a:latin typeface="Merriweather"/>
                <a:ea typeface="Merriweather"/>
                <a:cs typeface="Merriweather"/>
                <a:sym typeface="Merriweather"/>
              </a:rPr>
              <a:t>Learnyx Efficiency</a:t>
            </a:r>
            <a:endParaRPr/>
          </a:p>
        </p:txBody>
      </p:sp>
      <p:sp>
        <p:nvSpPr>
          <p:cNvPr id="108" name="Google Shape;108;p15"/>
          <p:cNvSpPr txBox="1"/>
          <p:nvPr/>
        </p:nvSpPr>
        <p:spPr>
          <a:xfrm>
            <a:off x="6791325" y="3271837"/>
            <a:ext cx="4448175" cy="12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Єдина екосистема з комісією всього 4%. Автоматичне списання занять, транзакційна надійність PostgreSQL та система Learning Cashback для утримання клієнтів.</a:t>
            </a:r>
            <a:endParaRPr/>
          </a:p>
        </p:txBody>
      </p:sp>
      <p:pic>
        <p:nvPicPr>
          <p:cNvPr descr="image.png" id="109" name="Google Shape;109;p1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028700" y="3071812"/>
            <a:ext cx="180975" cy="17829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0" name="Google Shape;110;p1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791325" y="3071812"/>
            <a:ext cx="152400" cy="17829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15" name="Google Shape;115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6" name="Google Shape;116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34125" y="1938337"/>
            <a:ext cx="5286375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16"/>
          <p:cNvSpPr txBox="1"/>
          <p:nvPr/>
        </p:nvSpPr>
        <p:spPr>
          <a:xfrm>
            <a:off x="762000" y="571500"/>
            <a:ext cx="11401425" cy="4476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50" u="none" cap="none" strike="noStrik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Візуальна ідентичність та UX</a:t>
            </a:r>
            <a:endParaRPr/>
          </a:p>
        </p:txBody>
      </p:sp>
      <p:sp>
        <p:nvSpPr>
          <p:cNvPr id="118" name="Google Shape;118;p16"/>
          <p:cNvSpPr/>
          <p:nvPr/>
        </p:nvSpPr>
        <p:spPr>
          <a:xfrm>
            <a:off x="571500" y="571500"/>
            <a:ext cx="47625" cy="447675"/>
          </a:xfrm>
          <a:prstGeom prst="rect">
            <a:avLst/>
          </a:prstGeom>
          <a:solidFill>
            <a:srgbClr val="11CAA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16"/>
          <p:cNvSpPr txBox="1"/>
          <p:nvPr/>
        </p:nvSpPr>
        <p:spPr>
          <a:xfrm>
            <a:off x="571500" y="2371725"/>
            <a:ext cx="5550693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0F172A"/>
                </a:solidFill>
                <a:latin typeface="Merriweather"/>
                <a:ea typeface="Merriweather"/>
                <a:cs typeface="Merriweather"/>
                <a:sym typeface="Merriweather"/>
              </a:rPr>
              <a:t>Професіоналізм у деталях</a:t>
            </a:r>
            <a:endParaRPr/>
          </a:p>
        </p:txBody>
      </p:sp>
      <p:sp>
        <p:nvSpPr>
          <p:cNvPr id="120" name="Google Shape;120;p16"/>
          <p:cNvSpPr txBox="1"/>
          <p:nvPr/>
        </p:nvSpPr>
        <p:spPr>
          <a:xfrm>
            <a:off x="571500" y="2590800"/>
            <a:ext cx="5286375" cy="12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Наш інтерфейс розроблений для мінімізації когнітивного навантаження менеджера. Використання фірмової палітри (Deep Blue &amp; Mint) підкреслює технологічність та надійність бренду.</a:t>
            </a:r>
            <a:endParaRPr/>
          </a:p>
        </p:txBody>
      </p:sp>
      <p:pic>
        <p:nvPicPr>
          <p:cNvPr descr="image.png" id="121" name="Google Shape;121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34125" y="1938337"/>
            <a:ext cx="5286375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16"/>
          <p:cNvSpPr txBox="1"/>
          <p:nvPr/>
        </p:nvSpPr>
        <p:spPr>
          <a:xfrm>
            <a:off x="571500" y="3962400"/>
            <a:ext cx="52863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6670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Анімовані дашборди успішності</a:t>
            </a:r>
            <a:endParaRPr/>
          </a:p>
        </p:txBody>
      </p:sp>
      <p:sp>
        <p:nvSpPr>
          <p:cNvPr id="123" name="Google Shape;123;p16"/>
          <p:cNvSpPr txBox="1"/>
          <p:nvPr/>
        </p:nvSpPr>
        <p:spPr>
          <a:xfrm>
            <a:off x="571500" y="4410075"/>
            <a:ext cx="52863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6670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Миттєве бронювання слотів</a:t>
            </a:r>
            <a:endParaRPr/>
          </a:p>
        </p:txBody>
      </p:sp>
      <p:sp>
        <p:nvSpPr>
          <p:cNvPr id="124" name="Google Shape;124;p16"/>
          <p:cNvSpPr txBox="1"/>
          <p:nvPr/>
        </p:nvSpPr>
        <p:spPr>
          <a:xfrm>
            <a:off x="571500" y="4857750"/>
            <a:ext cx="52863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6670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Адаптивність для всіх пристроїв</a:t>
            </a:r>
            <a:endParaRPr/>
          </a:p>
        </p:txBody>
      </p:sp>
      <p:pic>
        <p:nvPicPr>
          <p:cNvPr descr="image.png" id="125" name="Google Shape;125;p1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4014787"/>
            <a:ext cx="17145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6" name="Google Shape;126;p1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4462462"/>
            <a:ext cx="17145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7" name="Google Shape;127;p1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4910137"/>
            <a:ext cx="171450" cy="200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32" name="Google Shape;132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17"/>
          <p:cNvSpPr txBox="1"/>
          <p:nvPr/>
        </p:nvSpPr>
        <p:spPr>
          <a:xfrm>
            <a:off x="762000" y="571500"/>
            <a:ext cx="11401425" cy="4476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50" u="none" cap="none" strike="noStrik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Монетизація та тарифна сітка</a:t>
            </a:r>
            <a:endParaRPr/>
          </a:p>
        </p:txBody>
      </p:sp>
      <p:sp>
        <p:nvSpPr>
          <p:cNvPr id="134" name="Google Shape;134;p17"/>
          <p:cNvSpPr/>
          <p:nvPr/>
        </p:nvSpPr>
        <p:spPr>
          <a:xfrm>
            <a:off x="571500" y="571500"/>
            <a:ext cx="47625" cy="447675"/>
          </a:xfrm>
          <a:prstGeom prst="rect">
            <a:avLst/>
          </a:prstGeom>
          <a:solidFill>
            <a:srgbClr val="11CAA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35" name="Google Shape;135;p17"/>
          <p:cNvGraphicFramePr/>
          <p:nvPr/>
        </p:nvGraphicFramePr>
        <p:xfrm>
          <a:off x="571500" y="2028825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{6B246C3A-CAC3-4DFE-86E6-5717E81ED3B4}</a:tableStyleId>
              </a:tblPr>
              <a:tblGrid>
                <a:gridCol w="3212600"/>
                <a:gridCol w="2263075"/>
                <a:gridCol w="2601525"/>
                <a:gridCol w="2971800"/>
              </a:tblGrid>
              <a:tr h="5981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500" u="none" cap="none" strike="noStrike">
                          <a:solidFill>
                            <a:srgbClr val="334155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Можливості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508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500" u="none" cap="none" strike="noStrike">
                          <a:solidFill>
                            <a:srgbClr val="334155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Пакет «Старт»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508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500" u="none" cap="none" strike="noStrike">
                          <a:solidFill>
                            <a:srgbClr val="334155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Пакет «Розвиток»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508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500" u="none" cap="none" strike="noStrike">
                          <a:solidFill>
                            <a:srgbClr val="334155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Пакет «Enterprise»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5088"/>
                    </a:solidFill>
                  </a:tcPr>
                </a:tc>
              </a:tr>
              <a:tr h="5981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334155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Кількість викладачів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334155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До 3 профілів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334155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До 15 профілів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334155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Безліміт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981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334155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Аналітика доходу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334155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Останні 30 днів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334155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Повна історія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334155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Custom Reports + API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981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334155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Комісія платформи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334155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4%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334155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4%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334155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Індивідуально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981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334155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Bulk-операції (Розклад)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25400" marB="25400" marR="63500" marL="25717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25400" marB="25400" marR="63500" marL="2857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25400" marB="25400" marR="63500" marL="2857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36" name="Google Shape;136;p17"/>
          <p:cNvSpPr txBox="1"/>
          <p:nvPr/>
        </p:nvSpPr>
        <p:spPr>
          <a:xfrm>
            <a:off x="571500" y="5210175"/>
            <a:ext cx="11049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500" u="none" cap="none" strike="noStrike">
                <a:solidFill>
                  <a:srgbClr val="64748B"/>
                </a:solidFill>
                <a:latin typeface="DM Sans"/>
                <a:ea typeface="DM Sans"/>
                <a:cs typeface="DM Sans"/>
                <a:sym typeface="DM Sans"/>
              </a:rPr>
              <a:t>*Монетизація базується на Feature Gating: складні аналітичні інструменти доступні лише на PRO-тарифах.</a:t>
            </a:r>
            <a:endParaRPr/>
          </a:p>
        </p:txBody>
      </p:sp>
      <p:sp>
        <p:nvSpPr>
          <p:cNvPr id="137" name="Google Shape;137;p17"/>
          <p:cNvSpPr/>
          <p:nvPr/>
        </p:nvSpPr>
        <p:spPr>
          <a:xfrm>
            <a:off x="571500" y="3205162"/>
            <a:ext cx="3212603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17"/>
          <p:cNvSpPr/>
          <p:nvPr/>
        </p:nvSpPr>
        <p:spPr>
          <a:xfrm>
            <a:off x="3784103" y="3205162"/>
            <a:ext cx="226308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17"/>
          <p:cNvSpPr/>
          <p:nvPr/>
        </p:nvSpPr>
        <p:spPr>
          <a:xfrm>
            <a:off x="6047184" y="3205162"/>
            <a:ext cx="260151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17"/>
          <p:cNvSpPr/>
          <p:nvPr/>
        </p:nvSpPr>
        <p:spPr>
          <a:xfrm>
            <a:off x="8648700" y="3205162"/>
            <a:ext cx="297180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17"/>
          <p:cNvSpPr/>
          <p:nvPr/>
        </p:nvSpPr>
        <p:spPr>
          <a:xfrm>
            <a:off x="571500" y="3805237"/>
            <a:ext cx="3212603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17"/>
          <p:cNvSpPr/>
          <p:nvPr/>
        </p:nvSpPr>
        <p:spPr>
          <a:xfrm>
            <a:off x="3784103" y="3805237"/>
            <a:ext cx="226308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17"/>
          <p:cNvSpPr/>
          <p:nvPr/>
        </p:nvSpPr>
        <p:spPr>
          <a:xfrm>
            <a:off x="6047184" y="3805237"/>
            <a:ext cx="260151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17"/>
          <p:cNvSpPr/>
          <p:nvPr/>
        </p:nvSpPr>
        <p:spPr>
          <a:xfrm>
            <a:off x="8648700" y="3805237"/>
            <a:ext cx="297180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17"/>
          <p:cNvSpPr/>
          <p:nvPr/>
        </p:nvSpPr>
        <p:spPr>
          <a:xfrm>
            <a:off x="571500" y="4405312"/>
            <a:ext cx="3212603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17"/>
          <p:cNvSpPr/>
          <p:nvPr/>
        </p:nvSpPr>
        <p:spPr>
          <a:xfrm>
            <a:off x="3784103" y="4405312"/>
            <a:ext cx="226308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17"/>
          <p:cNvSpPr/>
          <p:nvPr/>
        </p:nvSpPr>
        <p:spPr>
          <a:xfrm>
            <a:off x="6047184" y="4405312"/>
            <a:ext cx="260151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17"/>
          <p:cNvSpPr/>
          <p:nvPr/>
        </p:nvSpPr>
        <p:spPr>
          <a:xfrm>
            <a:off x="8648700" y="4405312"/>
            <a:ext cx="297180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17"/>
          <p:cNvSpPr/>
          <p:nvPr/>
        </p:nvSpPr>
        <p:spPr>
          <a:xfrm>
            <a:off x="571500" y="5005387"/>
            <a:ext cx="3212603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17"/>
          <p:cNvSpPr/>
          <p:nvPr/>
        </p:nvSpPr>
        <p:spPr>
          <a:xfrm>
            <a:off x="3784103" y="5005387"/>
            <a:ext cx="226308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17"/>
          <p:cNvSpPr/>
          <p:nvPr/>
        </p:nvSpPr>
        <p:spPr>
          <a:xfrm>
            <a:off x="6047184" y="5005387"/>
            <a:ext cx="260151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17"/>
          <p:cNvSpPr/>
          <p:nvPr/>
        </p:nvSpPr>
        <p:spPr>
          <a:xfrm>
            <a:off x="8648700" y="5005387"/>
            <a:ext cx="297180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53" name="Google Shape;153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190059" y="4619625"/>
            <a:ext cx="171450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4" name="Google Shape;154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791575" y="4619625"/>
            <a:ext cx="171450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5" name="Google Shape;155;p1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3926978" y="4619625"/>
            <a:ext cx="142875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6" name="Google Shape;156;p1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3926978" y="4619625"/>
            <a:ext cx="142875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7" name="Google Shape;157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190059" y="4619625"/>
            <a:ext cx="171450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8" name="Google Shape;158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791575" y="4619625"/>
            <a:ext cx="171450" cy="190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63" name="Google Shape;163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4" name="Google Shape;164;p18"/>
          <p:cNvSpPr/>
          <p:nvPr/>
        </p:nvSpPr>
        <p:spPr>
          <a:xfrm>
            <a:off x="5619750" y="2380357"/>
            <a:ext cx="952500" cy="57150"/>
          </a:xfrm>
          <a:prstGeom prst="rect">
            <a:avLst/>
          </a:prstGeom>
          <a:solidFill>
            <a:srgbClr val="11CAA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18"/>
          <p:cNvSpPr txBox="1"/>
          <p:nvPr/>
        </p:nvSpPr>
        <p:spPr>
          <a:xfrm>
            <a:off x="295275" y="2723257"/>
            <a:ext cx="11601450" cy="13409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800" u="none" cap="none" strike="noStrik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Технічна досконалість (DB Engineering)</a:t>
            </a:r>
            <a:endParaRPr/>
          </a:p>
        </p:txBody>
      </p:sp>
      <p:sp>
        <p:nvSpPr>
          <p:cNvPr id="166" name="Google Shape;166;p18"/>
          <p:cNvSpPr txBox="1"/>
          <p:nvPr/>
        </p:nvSpPr>
        <p:spPr>
          <a:xfrm>
            <a:off x="571500" y="4254698"/>
            <a:ext cx="11049000" cy="3656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64748B"/>
                </a:solidFill>
                <a:latin typeface="DM Sans"/>
                <a:ea typeface="DM Sans"/>
                <a:cs typeface="DM Sans"/>
                <a:sym typeface="DM Sans"/>
              </a:rPr>
              <a:t>Як архітектура PostgreSQL гарантує безпеку ваших фінансів.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71" name="Google Shape;171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72" name="Google Shape;172;p19"/>
          <p:cNvSpPr txBox="1"/>
          <p:nvPr/>
        </p:nvSpPr>
        <p:spPr>
          <a:xfrm>
            <a:off x="762000" y="571500"/>
            <a:ext cx="5000625" cy="895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50" u="none" cap="none" strike="noStrik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Транзакційна надійність</a:t>
            </a:r>
            <a:endParaRPr/>
          </a:p>
        </p:txBody>
      </p:sp>
      <p:sp>
        <p:nvSpPr>
          <p:cNvPr id="173" name="Google Shape;173;p19"/>
          <p:cNvSpPr/>
          <p:nvPr/>
        </p:nvSpPr>
        <p:spPr>
          <a:xfrm>
            <a:off x="571500" y="571500"/>
            <a:ext cx="47625" cy="895350"/>
          </a:xfrm>
          <a:prstGeom prst="rect">
            <a:avLst/>
          </a:prstGeom>
          <a:solidFill>
            <a:srgbClr val="11CAA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74" name="Google Shape;174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096000" y="0"/>
            <a:ext cx="6096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75" name="Google Shape;175;p19"/>
          <p:cNvSpPr txBox="1"/>
          <p:nvPr/>
        </p:nvSpPr>
        <p:spPr>
          <a:xfrm>
            <a:off x="571500" y="2890837"/>
            <a:ext cx="5200650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0F172A"/>
                </a:solidFill>
                <a:latin typeface="Merriweather"/>
                <a:ea typeface="Merriweather"/>
                <a:cs typeface="Merriweather"/>
                <a:sym typeface="Merriweather"/>
              </a:rPr>
              <a:t>Захист від «Double Booking»</a:t>
            </a:r>
            <a:endParaRPr/>
          </a:p>
        </p:txBody>
      </p:sp>
      <p:sp>
        <p:nvSpPr>
          <p:cNvPr id="176" name="Google Shape;176;p19"/>
          <p:cNvSpPr txBox="1"/>
          <p:nvPr/>
        </p:nvSpPr>
        <p:spPr>
          <a:xfrm>
            <a:off x="571500" y="3109912"/>
            <a:ext cx="4953000" cy="933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Ми використовуємо </a:t>
            </a:r>
            <a:r>
              <a:rPr b="1" i="0" lang="en-US" sz="15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Pessimistic Locking</a:t>
            </a:r>
            <a:r>
              <a:rPr b="0" i="0" lang="en-US" sz="15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на рівні СУБД. При спробі бронювання система виконує SELECT FOR UPDATE, блокуючи рядок розкладу.</a:t>
            </a:r>
            <a:endParaRPr/>
          </a:p>
        </p:txBody>
      </p:sp>
      <p:sp>
        <p:nvSpPr>
          <p:cNvPr id="177" name="Google Shape;177;p19"/>
          <p:cNvSpPr txBox="1"/>
          <p:nvPr/>
        </p:nvSpPr>
        <p:spPr>
          <a:xfrm>
            <a:off x="571500" y="4186237"/>
            <a:ext cx="49530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Це гарантує, що паралельні запити не зможуть списати баланс двічі або зайняти один і той самий слот. Цілісність даних — наш пріоритет №1.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82" name="Google Shape;182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83" name="Google Shape;183;p20"/>
          <p:cNvSpPr txBox="1"/>
          <p:nvPr/>
        </p:nvSpPr>
        <p:spPr>
          <a:xfrm>
            <a:off x="762000" y="571500"/>
            <a:ext cx="11401425" cy="4476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50" u="none" cap="none" strike="noStrik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Оптимізація продуктивності</a:t>
            </a:r>
            <a:endParaRPr/>
          </a:p>
        </p:txBody>
      </p:sp>
      <p:sp>
        <p:nvSpPr>
          <p:cNvPr id="184" name="Google Shape;184;p20"/>
          <p:cNvSpPr/>
          <p:nvPr/>
        </p:nvSpPr>
        <p:spPr>
          <a:xfrm>
            <a:off x="571500" y="571500"/>
            <a:ext cx="47625" cy="447675"/>
          </a:xfrm>
          <a:prstGeom prst="rect">
            <a:avLst/>
          </a:prstGeom>
          <a:solidFill>
            <a:srgbClr val="11CAA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85" name="Google Shape;185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45600" y="2150150"/>
            <a:ext cx="5591574" cy="2463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6" name="Google Shape;186;p2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655529" y="2150150"/>
            <a:ext cx="5257200" cy="3742626"/>
          </a:xfrm>
          <a:prstGeom prst="rect">
            <a:avLst/>
          </a:prstGeom>
          <a:noFill/>
          <a:ln>
            <a:noFill/>
          </a:ln>
        </p:spPr>
      </p:pic>
      <p:sp>
        <p:nvSpPr>
          <p:cNvPr id="187" name="Google Shape;187;p20"/>
          <p:cNvSpPr txBox="1"/>
          <p:nvPr/>
        </p:nvSpPr>
        <p:spPr>
          <a:xfrm>
            <a:off x="311100" y="1556125"/>
            <a:ext cx="4874400" cy="500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До 6-го етапу: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20"/>
          <p:cNvSpPr txBox="1"/>
          <p:nvPr/>
        </p:nvSpPr>
        <p:spPr>
          <a:xfrm>
            <a:off x="6655525" y="1556125"/>
            <a:ext cx="4874400" cy="500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Після 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6-го етапу: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93" name="Google Shape;193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94" name="Google Shape;194;p21"/>
          <p:cNvSpPr txBox="1"/>
          <p:nvPr/>
        </p:nvSpPr>
        <p:spPr>
          <a:xfrm>
            <a:off x="762000" y="571500"/>
            <a:ext cx="11401425" cy="4476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50" u="none" cap="none" strike="noStrik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Аналітика викладачів (Complex Queries)</a:t>
            </a:r>
            <a:endParaRPr/>
          </a:p>
        </p:txBody>
      </p:sp>
      <p:sp>
        <p:nvSpPr>
          <p:cNvPr id="195" name="Google Shape;195;p21"/>
          <p:cNvSpPr/>
          <p:nvPr/>
        </p:nvSpPr>
        <p:spPr>
          <a:xfrm>
            <a:off x="571500" y="571500"/>
            <a:ext cx="47625" cy="447675"/>
          </a:xfrm>
          <a:prstGeom prst="rect">
            <a:avLst/>
          </a:prstGeom>
          <a:solidFill>
            <a:srgbClr val="11CAA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21"/>
          <p:cNvSpPr txBox="1"/>
          <p:nvPr/>
        </p:nvSpPr>
        <p:spPr>
          <a:xfrm>
            <a:off x="571500" y="3219450"/>
            <a:ext cx="4419600" cy="95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500" u="none" cap="none" strike="noStrike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9.4</a:t>
            </a:r>
            <a:endParaRPr/>
          </a:p>
        </p:txBody>
      </p:sp>
      <p:sp>
        <p:nvSpPr>
          <p:cNvPr id="197" name="Google Shape;197;p21"/>
          <p:cNvSpPr txBox="1"/>
          <p:nvPr/>
        </p:nvSpPr>
        <p:spPr>
          <a:xfrm>
            <a:off x="571500" y="4171950"/>
            <a:ext cx="4419600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11CAA0"/>
                </a:solidFill>
                <a:latin typeface="DM Sans"/>
                <a:ea typeface="DM Sans"/>
                <a:cs typeface="DM Sans"/>
                <a:sym typeface="DM Sans"/>
              </a:rPr>
              <a:t>AVG GRADE</a:t>
            </a:r>
            <a:endParaRPr/>
          </a:p>
        </p:txBody>
      </p:sp>
      <p:sp>
        <p:nvSpPr>
          <p:cNvPr id="198" name="Google Shape;198;p21"/>
          <p:cNvSpPr txBox="1"/>
          <p:nvPr/>
        </p:nvSpPr>
        <p:spPr>
          <a:xfrm>
            <a:off x="5467350" y="2824162"/>
            <a:ext cx="6724650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0F172A"/>
                </a:solidFill>
                <a:latin typeface="Merriweather"/>
                <a:ea typeface="Merriweather"/>
                <a:cs typeface="Merriweather"/>
                <a:sym typeface="Merriweather"/>
              </a:rPr>
              <a:t>Складні агрегації на рівні БД</a:t>
            </a:r>
            <a:endParaRPr/>
          </a:p>
        </p:txBody>
      </p:sp>
      <p:sp>
        <p:nvSpPr>
          <p:cNvPr id="199" name="Google Shape;199;p21"/>
          <p:cNvSpPr txBox="1"/>
          <p:nvPr/>
        </p:nvSpPr>
        <p:spPr>
          <a:xfrm>
            <a:off x="5467350" y="3043237"/>
            <a:ext cx="6629400" cy="923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Наш кастомний менеджер with_analytics() обробляє мільйони записів журналу, підраховуючи середній бал учнів та дохід викладача через SQL Joins та Aggregations.</a:t>
            </a:r>
            <a:endParaRPr/>
          </a:p>
        </p:txBody>
      </p:sp>
      <p:sp>
        <p:nvSpPr>
          <p:cNvPr id="200" name="Google Shape;200;p21"/>
          <p:cNvSpPr txBox="1"/>
          <p:nvPr/>
        </p:nvSpPr>
        <p:spPr>
          <a:xfrm>
            <a:off x="5467350" y="4110037"/>
            <a:ext cx="66294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Це дозволяє менеджеру отримувати комплексну картину успішності школи без навантаження на Frontend-частину.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05" name="Google Shape;205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06" name="Google Shape;206;p22"/>
          <p:cNvSpPr txBox="1"/>
          <p:nvPr/>
        </p:nvSpPr>
        <p:spPr>
          <a:xfrm>
            <a:off x="762000" y="571500"/>
            <a:ext cx="11401425" cy="4476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50" u="none" cap="none" strike="noStrik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Infrastructure Roadmap: Масштабування</a:t>
            </a:r>
            <a:endParaRPr/>
          </a:p>
        </p:txBody>
      </p:sp>
      <p:sp>
        <p:nvSpPr>
          <p:cNvPr id="207" name="Google Shape;207;p22"/>
          <p:cNvSpPr/>
          <p:nvPr/>
        </p:nvSpPr>
        <p:spPr>
          <a:xfrm>
            <a:off x="571500" y="571500"/>
            <a:ext cx="47625" cy="447675"/>
          </a:xfrm>
          <a:prstGeom prst="rect">
            <a:avLst/>
          </a:prstGeom>
          <a:solidFill>
            <a:srgbClr val="11CAA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22"/>
          <p:cNvSpPr txBox="1"/>
          <p:nvPr/>
        </p:nvSpPr>
        <p:spPr>
          <a:xfrm>
            <a:off x="571500" y="2505075"/>
            <a:ext cx="11601450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0F172A"/>
                </a:solidFill>
                <a:latin typeface="Merriweather"/>
                <a:ea typeface="Merriweather"/>
                <a:cs typeface="Merriweather"/>
                <a:sym typeface="Merriweather"/>
              </a:rPr>
              <a:t>MVP Stage</a:t>
            </a:r>
            <a:endParaRPr/>
          </a:p>
        </p:txBody>
      </p:sp>
      <p:sp>
        <p:nvSpPr>
          <p:cNvPr id="209" name="Google Shape;209;p22"/>
          <p:cNvSpPr txBox="1"/>
          <p:nvPr/>
        </p:nvSpPr>
        <p:spPr>
          <a:xfrm>
            <a:off x="571500" y="2724150"/>
            <a:ext cx="11049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PostgreSQL 14, Django REST, JWT Auth. Базова оптимізація індексів.</a:t>
            </a:r>
            <a:endParaRPr/>
          </a:p>
        </p:txBody>
      </p:sp>
      <p:sp>
        <p:nvSpPr>
          <p:cNvPr id="210" name="Google Shape;210;p22"/>
          <p:cNvSpPr txBox="1"/>
          <p:nvPr/>
        </p:nvSpPr>
        <p:spPr>
          <a:xfrm>
            <a:off x="571500" y="3171825"/>
            <a:ext cx="11601450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0F172A"/>
                </a:solidFill>
                <a:latin typeface="Merriweather"/>
                <a:ea typeface="Merriweather"/>
                <a:cs typeface="Merriweather"/>
                <a:sym typeface="Merriweather"/>
              </a:rPr>
              <a:t>Scaling 10x</a:t>
            </a:r>
            <a:endParaRPr/>
          </a:p>
        </p:txBody>
      </p:sp>
      <p:sp>
        <p:nvSpPr>
          <p:cNvPr id="211" name="Google Shape;211;p22"/>
          <p:cNvSpPr txBox="1"/>
          <p:nvPr/>
        </p:nvSpPr>
        <p:spPr>
          <a:xfrm>
            <a:off x="571500" y="3390900"/>
            <a:ext cx="11049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Впровадження </a:t>
            </a:r>
            <a:r>
              <a:rPr b="1" i="0" lang="en-US" sz="15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Redis</a:t>
            </a:r>
            <a:r>
              <a:rPr b="0" i="0" lang="en-US" sz="15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для кешування розкладу. Master-Replica архітектура.</a:t>
            </a:r>
            <a:endParaRPr/>
          </a:p>
        </p:txBody>
      </p:sp>
      <p:sp>
        <p:nvSpPr>
          <p:cNvPr id="212" name="Google Shape;212;p22"/>
          <p:cNvSpPr txBox="1"/>
          <p:nvPr/>
        </p:nvSpPr>
        <p:spPr>
          <a:xfrm>
            <a:off x="571500" y="3838575"/>
            <a:ext cx="11601450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0F172A"/>
                </a:solidFill>
                <a:latin typeface="Merriweather"/>
                <a:ea typeface="Merriweather"/>
                <a:cs typeface="Merriweather"/>
                <a:sym typeface="Merriweather"/>
              </a:rPr>
              <a:t>Growth 100x</a:t>
            </a:r>
            <a:endParaRPr/>
          </a:p>
        </p:txBody>
      </p:sp>
      <p:sp>
        <p:nvSpPr>
          <p:cNvPr id="213" name="Google Shape;213;p22"/>
          <p:cNvSpPr txBox="1"/>
          <p:nvPr/>
        </p:nvSpPr>
        <p:spPr>
          <a:xfrm>
            <a:off x="571500" y="4057650"/>
            <a:ext cx="11049000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Horizontal Sharding за ключем school_id. Міграція логів у MongoDB.</a:t>
            </a:r>
            <a:endParaRPr/>
          </a:p>
        </p:txBody>
      </p:sp>
      <p:sp>
        <p:nvSpPr>
          <p:cNvPr id="214" name="Google Shape;214;p22"/>
          <p:cNvSpPr txBox="1"/>
          <p:nvPr/>
        </p:nvSpPr>
        <p:spPr>
          <a:xfrm>
            <a:off x="571500" y="4514850"/>
            <a:ext cx="11601450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0F172A"/>
                </a:solidFill>
                <a:latin typeface="Merriweather"/>
                <a:ea typeface="Merriweather"/>
                <a:cs typeface="Merriweather"/>
                <a:sym typeface="Merriweather"/>
              </a:rPr>
              <a:t>Global SaaS</a:t>
            </a:r>
            <a:endParaRPr/>
          </a:p>
        </p:txBody>
      </p:sp>
      <p:sp>
        <p:nvSpPr>
          <p:cNvPr id="215" name="Google Shape;215;p22"/>
          <p:cNvSpPr txBox="1"/>
          <p:nvPr/>
        </p:nvSpPr>
        <p:spPr>
          <a:xfrm>
            <a:off x="571500" y="4733925"/>
            <a:ext cx="11049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Managed AWS RDS, Multi-region deployment, Serverless Analytics.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20" name="Google Shape;220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1" name="Google Shape;221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562100"/>
            <a:ext cx="5577780" cy="3810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2" name="Google Shape;222;p2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435030" y="1562100"/>
            <a:ext cx="5185469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223" name="Google Shape;223;p23"/>
          <p:cNvSpPr txBox="1"/>
          <p:nvPr/>
        </p:nvSpPr>
        <p:spPr>
          <a:xfrm>
            <a:off x="762000" y="571500"/>
            <a:ext cx="11401425" cy="4476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50" u="none" cap="none" strike="noStrik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Наша команда та візія</a:t>
            </a:r>
            <a:endParaRPr/>
          </a:p>
        </p:txBody>
      </p:sp>
      <p:sp>
        <p:nvSpPr>
          <p:cNvPr id="224" name="Google Shape;224;p23"/>
          <p:cNvSpPr/>
          <p:nvPr/>
        </p:nvSpPr>
        <p:spPr>
          <a:xfrm>
            <a:off x="571500" y="571500"/>
            <a:ext cx="47625" cy="447675"/>
          </a:xfrm>
          <a:prstGeom prst="rect">
            <a:avLst/>
          </a:prstGeom>
          <a:solidFill>
            <a:srgbClr val="11CAA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23"/>
          <p:cNvSpPr txBox="1"/>
          <p:nvPr/>
        </p:nvSpPr>
        <p:spPr>
          <a:xfrm>
            <a:off x="571500" y="5372100"/>
            <a:ext cx="557778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Ми віримо, що технології мають служити освіті, а не ускладнювати її.</a:t>
            </a:r>
            <a:endParaRPr/>
          </a:p>
        </p:txBody>
      </p:sp>
      <p:sp>
        <p:nvSpPr>
          <p:cNvPr id="226" name="Google Shape;226;p23"/>
          <p:cNvSpPr txBox="1"/>
          <p:nvPr/>
        </p:nvSpPr>
        <p:spPr>
          <a:xfrm>
            <a:off x="6435030" y="5372100"/>
            <a:ext cx="5185469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Learnyx — це фундамент для тисяч онлайн-шкіл по всьому світу.</a:t>
            </a:r>
            <a:endParaRPr/>
          </a:p>
        </p:txBody>
      </p:sp>
      <p:pic>
        <p:nvPicPr>
          <p:cNvPr descr="image.png" id="227" name="Google Shape;227;p2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1562100"/>
            <a:ext cx="5577780" cy="3810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8" name="Google Shape;228;p23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435030" y="1562100"/>
            <a:ext cx="5185469" cy="3810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33" name="Google Shape;233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34" name="Google Shape;234;p24"/>
          <p:cNvSpPr txBox="1"/>
          <p:nvPr/>
        </p:nvSpPr>
        <p:spPr>
          <a:xfrm>
            <a:off x="295275" y="2322165"/>
            <a:ext cx="11601450" cy="8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000" u="none" cap="none" strike="noStrik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Запитання?</a:t>
            </a:r>
            <a:endParaRPr/>
          </a:p>
        </p:txBody>
      </p:sp>
      <p:sp>
        <p:nvSpPr>
          <p:cNvPr id="235" name="Google Shape;235;p24"/>
          <p:cNvSpPr txBox="1"/>
          <p:nvPr/>
        </p:nvSpPr>
        <p:spPr>
          <a:xfrm>
            <a:off x="571500" y="3350865"/>
            <a:ext cx="11049000" cy="3656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64748B"/>
                </a:solidFill>
                <a:latin typeface="DM Sans"/>
                <a:ea typeface="DM Sans"/>
                <a:cs typeface="DM Sans"/>
                <a:sym typeface="DM Sans"/>
              </a:rPr>
              <a:t>Дякуємо за увагу! Ми готові до технічного обговорення деталей архітектури.</a:t>
            </a:r>
            <a:endParaRPr/>
          </a:p>
        </p:txBody>
      </p:sp>
      <p:sp>
        <p:nvSpPr>
          <p:cNvPr id="236" name="Google Shape;236;p24"/>
          <p:cNvSpPr txBox="1"/>
          <p:nvPr/>
        </p:nvSpPr>
        <p:spPr>
          <a:xfrm>
            <a:off x="571500" y="4335660"/>
            <a:ext cx="1104900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Learnyx Team | DB Engineer Presentation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